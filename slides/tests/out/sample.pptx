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800" b="1">
                <a:solidFill>
                  <a:schemeClr val="tx1"/>
                </a:solidFill>
              </a:defRPr>
            </a:pPr>
            <a:r>
              <a:rPr lang="en-US" sz="1800" b="1">
                <a:solidFill>
                  <a:schemeClr val="tx1"/>
                </a:solidFill>
              </a:rPr>
              <a:t>Monthly active presenters (k)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51</c:v>
                </c:pt>
                <c:pt idx="2">
                  <c:v>58</c:v>
                </c:pt>
                <c:pt idx="3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</c:v>
                </c:pt>
                <c:pt idx="1">
                  <c:v>74</c:v>
                </c:pt>
                <c:pt idx="2">
                  <c:v>92</c:v>
                </c:pt>
                <c:pt idx="3">
                  <c:v>118</c:v>
                </c:pt>
              </c:numCache>
            </c:numRef>
          </c:val>
        </c:ser>
        <c:gapWidth val="100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tx1">
                <a:lumMod val="50000"/>
                <a:lumOff val="50000"/>
              </a:schemeClr>
            </a:solidFill>
          </a:ln>
        </c:spPr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l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5001000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200">
              <a:solidFill>
                <a:schemeClr val="tx1">
                  <a:lumMod val="75000"/>
                  <a:lumOff val="25000"/>
                </a:schemeClr>
              </a:solidFill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200">
          <a:latin typeface="+mn-lt"/>
        </a:defRPr>
      </a:pPr>
      <a:endParaRPr lang="en-US"/>
    </a:p>
  </c:txPr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Today: why Aurora, who it is for, and how we launch it in three phases.</a:t>
            </a:r>
          </a:p>
          <a:p>
            <a:r>
              <a:rPr lang="en-US" dirty="0"/>
              <a:t>Keep this under one minute.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quickly. Emphasise that pricing is still open for feedback.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picture is a placeholder for the campaign key visual.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internal survey of 1,240 customers, June 2026.</a:t>
            </a:r>
          </a:p>
          <a:p>
            <a:r>
              <a:rPr lang="en-US" dirty="0"/>
              <a:t>Pause on the 68 % figure.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has an owner and an exit criterion. Beta exit = 200 active teams.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stays free forever. Team pricing is per editor, presenters are free.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presenter view live here (Alt+F5).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Share the deck as PDF afterwards (File → Export → PDF).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3500" y="1619250"/>
            <a:ext cx="9525000" cy="2190750"/>
          </a:xfrm>
        </p:spPr>
        <p:txBody>
          <a:bodyPr anchor="b"/>
          <a:lstStyle>
            <a:lvl1pPr marL="0" indent="0" algn="ctr">
              <a:buNone/>
              <a:defRPr sz="5600" kern="1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3500" y="3981450"/>
            <a:ext cx="9525000" cy="1238250"/>
          </a:xfrm>
        </p:spPr>
        <p:txBody>
          <a:bodyPr>
            <a:normAutofit/>
          </a:bodyPr>
          <a:lstStyle>
            <a:lvl1pPr marL="0" indent="0" algn="ctr"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ctr"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ctr"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1124-31DC-4453-A7A5-47E20E1269A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10668000" cy="447675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F67D-E6F1-47E9-A126-2E6EACF616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190750"/>
            <a:ext cx="10668000" cy="1809750"/>
          </a:xfrm>
        </p:spPr>
        <p:txBody>
          <a:bodyPr anchor="b"/>
          <a:lstStyle>
            <a:lvl1pPr marL="0" indent="0">
              <a:buNone/>
              <a:defRPr sz="5000" kern="1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62000" y="4152900"/>
            <a:ext cx="10668000" cy="952500"/>
          </a:xfrm>
        </p:spPr>
        <p:txBody>
          <a:bodyPr>
            <a:normAutofit/>
          </a:bodyPr>
          <a:lstStyle>
            <a:lvl1pPr marL="0" indent="0">
              <a:buNone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9952-8A9F-4B91-A11F-F12867E469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5191125" cy="447675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6238875" y="1676400"/>
            <a:ext cx="5191125" cy="447675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2A-CF4A-4AC2-A946-7176DBF6E5B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5191125" cy="533400"/>
          </a:xfrm>
        </p:spPr>
        <p:txBody>
          <a:bodyPr anchor="b">
            <a:normAutofit/>
          </a:bodyPr>
          <a:lstStyle>
            <a:lvl1pPr marL="0" indent="0">
              <a:buNone/>
              <a:defRPr sz="2400" b="1" kern="1200"/>
            </a:lvl1pPr>
            <a:lvl2pPr marL="457200" indent="0">
              <a:buNone/>
              <a:defRPr sz="2200" b="1" kern="1200"/>
            </a:lvl2pPr>
            <a:lvl3pPr marL="914400" indent="0">
              <a:buNone/>
              <a:defRPr sz="2000" b="1" kern="1200"/>
            </a:lvl3pPr>
            <a:lvl4pPr marL="1371600" indent="0">
              <a:buNone/>
              <a:defRPr sz="1800" b="1" kern="1200"/>
            </a:lvl4pPr>
            <a:lvl5pPr marL="1828800" indent="0">
              <a:buNone/>
              <a:defRPr sz="1600" b="1" kern="1200"/>
            </a:lvl5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762000" y="2209800"/>
            <a:ext cx="5191125" cy="400050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type="body" idx="3"/>
          </p:nvPr>
        </p:nvSpPr>
        <p:spPr>
          <a:xfrm>
            <a:off x="6238875" y="1600200"/>
            <a:ext cx="5191125" cy="533400"/>
          </a:xfrm>
        </p:spPr>
        <p:txBody>
          <a:bodyPr anchor="b">
            <a:normAutofit/>
          </a:bodyPr>
          <a:lstStyle>
            <a:lvl1pPr marL="0" indent="0">
              <a:buNone/>
              <a:defRPr sz="2400" b="1" kern="1200"/>
            </a:lvl1pPr>
            <a:lvl2pPr marL="457200" indent="0">
              <a:buNone/>
              <a:defRPr sz="2200" b="1" kern="1200"/>
            </a:lvl2pPr>
            <a:lvl3pPr marL="914400" indent="0">
              <a:buNone/>
              <a:defRPr sz="2000" b="1" kern="1200"/>
            </a:lvl3pPr>
            <a:lvl4pPr marL="1371600" indent="0">
              <a:buNone/>
              <a:defRPr sz="1800" b="1" kern="1200"/>
            </a:lvl4pPr>
            <a:lvl5pPr marL="1828800" indent="0">
              <a:buNone/>
              <a:defRPr sz="1600" b="1" kern="1200"/>
            </a:lvl5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type="body" idx="4"/>
          </p:nvPr>
        </p:nvSpPr>
        <p:spPr>
          <a:xfrm>
            <a:off x="6238875" y="2209800"/>
            <a:ext cx="5191125" cy="4000500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8DE8-6A85-46BE-A77B-C08F9A5D5C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C0822-F275-4C4E-A653-ADC1752261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761-2BC4-46E5-A82F-8CE52763298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57250"/>
            <a:ext cx="4095750" cy="1428750"/>
          </a:xfrm>
        </p:spPr>
        <p:txBody>
          <a:bodyPr anchor="b"/>
          <a:lstStyle>
            <a:lvl1pPr marL="0" indent="0">
              <a:buNone/>
              <a:defRPr sz="3200" kern="1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34000" y="571500"/>
            <a:ext cx="6096000" cy="5715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762000" y="2438400"/>
            <a:ext cx="4095750" cy="3619500"/>
          </a:xfrm>
        </p:spPr>
        <p:txBody>
          <a:bodyPr>
            <a:normAutofit/>
          </a:bodyPr>
          <a:lstStyle>
            <a:lvl1pPr marL="0" indent="0">
              <a:buNone/>
              <a:defRPr sz="1800" kern="1200"/>
            </a:lvl1pPr>
            <a:lvl2pPr marL="457200" indent="0">
              <a:buNone/>
              <a:defRPr sz="1600" kern="1200"/>
            </a:lvl2pPr>
            <a:lvl3pPr marL="914400" indent="0">
              <a:buNone/>
              <a:defRPr sz="1400" kern="1200"/>
            </a:lvl3pPr>
            <a:lvl4pPr marL="1371600" indent="0">
              <a:buNone/>
              <a:defRPr sz="1200" kern="1200"/>
            </a:lvl4pPr>
            <a:lvl5pPr marL="1828800" indent="0">
              <a:buNone/>
              <a:defRPr sz="1000" kern="1200"/>
            </a:lvl5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CC478-BA63-4F58-A600-4B5C7C39FD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0"/>
            <a:ext cx="9906000" cy="3810000"/>
          </a:xfrm>
        </p:spPr>
        <p:txBody>
          <a:bodyPr anchor="ctr"/>
          <a:lstStyle>
            <a:lvl1pPr marL="0" indent="0" algn="ctr">
              <a:buNone/>
              <a:defRPr sz="6000" kern="1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FF51-8B39-4229-AFD7-0345CB14DC3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530"/>
            </a:gs>
            <a:gs pos="60000">
              <a:srgbClr val="16224A"/>
            </a:gs>
            <a:gs pos="100000">
              <a:srgbClr val="2A1F5C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7559040" y="-2400300"/>
            <a:ext cx="7315200" cy="617220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low 2"/>
          <p:cNvSpPr/>
          <p:nvPr/>
        </p:nvSpPr>
        <p:spPr>
          <a:xfrm>
            <a:off x="-1828800" y="4457700"/>
            <a:ext cx="4876800" cy="4114800"/>
          </a:xfrm>
          <a:prstGeom prst="ellipse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477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10668000" cy="4476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>
          <a:xfrm>
            <a:off x="762000" y="6362700"/>
            <a:ext cx="2667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>
              <a:buNone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ctr">
              <a:buNone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r">
              <a:buNone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270C343-3B44-40EB-A44B-E5B6DFD1FA3E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0" indent="0" algn="l">
        <a:lnSpc>
          <a:spcPct val="90000"/>
        </a:lnSpc>
        <a:buNone/>
        <a:defRPr sz="4000" b="1" kern="1200">
          <a:solidFill>
            <a:schemeClr val="tx1"/>
          </a:solidFill>
          <a:latin typeface="+mj-lt"/>
        </a:defRPr>
      </a:lvl1pPr>
    </p:titleStyle>
    <p:bodyStyle>
      <a:lvl1pPr marL="342900" indent="-342900" algn="l"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</a:defRPr>
      </a:lvl1pPr>
      <a:lvl2pPr marL="800100" indent="-342900" algn="l">
        <a:spcBef>
          <a:spcPts val="1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</a:defRPr>
      </a:lvl2pPr>
      <a:lvl3pPr marL="1257300" indent="-342900" algn="l"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</a:defRPr>
      </a:lvl3pPr>
      <a:lvl4pPr marL="1714500" indent="-342900" algn="l">
        <a:spcBef>
          <a:spcPts val="1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</a:defRPr>
      </a:lvl4pPr>
      <a:lvl5pPr marL="2171700" indent="-342900" algn="l"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5pPr>
      <a:lvl6pPr algn="l">
        <a:spcBef>
          <a:spcPts val="1000"/>
        </a:spcBef>
        <a:defRPr kern="1200">
          <a:solidFill>
            <a:schemeClr val="tx1"/>
          </a:solidFill>
          <a:latin typeface="+mn-lt"/>
        </a:defRPr>
      </a:lvl6pPr>
      <a:lvl7pPr algn="l">
        <a:spcBef>
          <a:spcPts val="1000"/>
        </a:spcBef>
        <a:defRPr kern="1200">
          <a:solidFill>
            <a:schemeClr val="tx1"/>
          </a:solidFill>
          <a:latin typeface="+mn-lt"/>
        </a:defRPr>
      </a:lvl7pPr>
      <a:lvl8pPr algn="l">
        <a:spcBef>
          <a:spcPts val="1000"/>
        </a:spcBef>
        <a:defRPr kern="1200">
          <a:solidFill>
            <a:schemeClr val="tx1"/>
          </a:solidFill>
          <a:latin typeface="+mn-lt"/>
        </a:defRPr>
      </a:lvl8pPr>
      <a:lvl9pPr algn="l">
        <a:spcBef>
          <a:spcPts val="1000"/>
        </a:spcBef>
        <a:defRPr kern="1200">
          <a:solidFill>
            <a:schemeClr val="tx1"/>
          </a:solidFill>
          <a:latin typeface="+mn-lt"/>
        </a:defRPr>
      </a:lvl9pPr>
    </p:bodyStyle>
    <p:otherStyle>
      <a:lvl1pPr marL="0" indent="0">
        <a:buNone/>
        <a:defRPr sz="1800" kern="12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dirty="0"/>
              <a:t>Lumen </a:t>
            </a:r>
            <a:r>
              <a:rPr lang="en-US" dirty="0">
                <a:solidFill>
                  <a:schemeClr val="accent1"/>
                </a:solidFill>
              </a:rPr>
              <a:t>Aurora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n-US" dirty="0"/>
              <a:t>Product launch plan · Autumn 2026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143500" y="857250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accent2">
              <a:alpha val="25000"/>
            </a:schemeClr>
          </a:solidFill>
          <a:ln w="14288">
            <a:solidFill>
              <a:schemeClr val="accent2"/>
            </a:solidFill>
            <a:round/>
          </a:ln>
        </p:spPr>
        <p:txBody>
          <a:bodyPr wrap="square" lIns="91440" tIns="45720" rIns="91440" bIns="45720" anchor="ctr" rtlCol="0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lt1"/>
                </a:solidFill>
                <a:latin typeface="+mn-lt"/>
              </a:rPr>
              <a:t>NEW · v2.0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en-US" dirty="0"/>
              <a:t>Why the market is ready</a:t>
            </a:r>
            <a:endParaRPr lang="en-US" dirty="0"/>
          </a:p>
          <a:p>
            <a:r>
              <a:rPr lang="en-US" dirty="0"/>
              <a:t>What Aurora does differently</a:t>
            </a:r>
            <a:endParaRPr lang="en-US" dirty="0"/>
          </a:p>
          <a:p>
            <a:r>
              <a:rPr lang="en-US" dirty="0"/>
              <a:t>Three-phase launch roadmap</a:t>
            </a:r>
            <a:endParaRPr lang="en-US" dirty="0"/>
          </a:p>
          <a:p>
            <a:pPr lvl="1"/>
            <a:r>
              <a:rPr lang="en-US" dirty="0"/>
              <a:t>Beta in October, public release in November</a:t>
            </a:r>
            <a:endParaRPr lang="en-US" dirty="0"/>
          </a:p>
          <a:p>
            <a:r>
              <a:rPr lang="en-US" dirty="0"/>
              <a:t>Pricing and packaging</a:t>
            </a:r>
            <a:endParaRPr lang="en-US" dirty="0"/>
          </a:p>
          <a:p>
            <a:r>
              <a:rPr lang="en-US" dirty="0"/>
              <a:t>Next steps &amp; owners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Lumen Aurora ·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79033E58-A26C-4C50-A5C8-55B108B5506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 dir="l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Why now?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en-US" b="1" dirty="0"/>
              <a:t>Remote teams </a:t>
            </a:r>
            <a:r>
              <a:rPr lang="en-US" dirty="0"/>
              <a:t>present 3× more often than in 2020</a:t>
            </a:r>
            <a:endParaRPr lang="en-US" dirty="0"/>
          </a:p>
          <a:p>
            <a:r>
              <a:rPr lang="en-US" b="1" dirty="0"/>
              <a:t>Decks are shared, </a:t>
            </a:r>
            <a:r>
              <a:rPr lang="en-US" dirty="0"/>
              <a:t>not just shown: they must work offline</a:t>
            </a:r>
            <a:endParaRPr lang="en-US" dirty="0"/>
          </a:p>
          <a:p>
            <a:r>
              <a:rPr lang="en-US" b="1" dirty="0"/>
              <a:t>Privacy </a:t>
            </a:r>
            <a:r>
              <a:rPr lang="en-US" dirty="0"/>
              <a:t>rules push teams away from cloud-only tools</a:t>
            </a:r>
            <a:endParaRPr lang="en-US" dirty="0"/>
          </a:p>
          <a:p>
            <a:r>
              <a:rPr lang="en-US" i="1" dirty="0">
                <a:solidFill>
                  <a:schemeClr val="accent1"/>
                </a:solidFill>
              </a:rPr>
              <a:t>Our users already ask for it</a:t>
            </a:r>
            <a:endParaRPr lang="en-US" dirty="0"/>
          </a:p>
        </p:txBody>
      </p:sp>
      <p:pic>
        <p:nvPicPr>
          <p:cNvPr id="4" name="Content Placeholder 3" descr=""/>
          <p:cNvPicPr>
            <a:picLocks noChangeAspect="1"/>
          </p:cNvPicPr>
          <p:nvPr>
            <p:ph type="body" idx="2"/>
          </p:nvPr>
        </p:nvPicPr>
        <p:blipFill>
          <a:blip r:embed="rId2"/>
          <a:srcRect l="12000" r="12000"/>
          <a:stretch>
            <a:fillRect/>
          </a:stretch>
        </p:blipFill>
        <p:spPr>
          <a:xfrm>
            <a:off x="6238875" y="1866900"/>
            <a:ext cx="5191125" cy="4095750"/>
          </a:xfrm>
          <a:prstGeom prst="roundRect">
            <a:avLst/>
          </a:prstGeom>
          <a:effectLst>
            <a:outerShdw blurRad="133350" dist="47625" dir="5400000" algn="t" rotWithShape="0">
              <a:prstClr val="black">
                <a:alpha val="32000"/>
              </a:prstClr>
            </a:outerShdw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Lumen Aurora ·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B86C9C90-94E8-4A3D-AEDC-72C9C7D824D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wipe dir="l"/>
      </p:transition>
    </mc:Choice>
    <mc:Fallback>
      <p:transition spd="med">
        <p:wipe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The opportunity in numbers</a:t>
            </a:r>
            <a:endParaRPr lang="en-US" dirty="0"/>
          </a:p>
        </p:txBody>
      </p:sp>
      <p:graphicFrame>
        <p:nvGraphicFramePr>
          <p:cNvPr id="3" name="Chart 2"/>
          <p:cNvGraphicFramePr/>
          <p:nvPr/>
        </p:nvGraphicFramePr>
        <p:xfrm>
          <a:off x="762000" y="1676400"/>
          <a:ext cx="6667500" cy="4476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05750" y="1676400"/>
            <a:ext cx="3524250" cy="1333500"/>
          </a:xfrm>
          <a:prstGeom prst="roundRect">
            <a:avLst>
              <a:gd name="adj" fmla="val 10000"/>
            </a:avLst>
          </a:prstGeom>
          <a:solidFill>
            <a:schemeClr val="accent1">
              <a:alpha val="16000"/>
            </a:schemeClr>
          </a:solidFill>
          <a:ln w="14288">
            <a:solidFill>
              <a:schemeClr val="accent1"/>
            </a:solidFill>
            <a:round/>
          </a:ln>
        </p:spPr>
        <p:txBody>
          <a:bodyPr wrap="square" lIns="91440" tIns="45720" rIns="91440" bIns="45720" anchor="ctr" rtlCol="0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+mj-lt"/>
              </a:rPr>
              <a:t>68 %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  <a:p>
            <a:pPr marL="0" indent="0" algn="ctr">
              <a:buNone/>
            </a:pPr>
            <a:r>
              <a:rPr lang="en-US" sz="1500" b="0" dirty="0">
                <a:solidFill>
                  <a:schemeClr val="tx1"/>
                </a:solidFill>
                <a:latin typeface="+mn-lt"/>
              </a:rPr>
              <a:t>want offline-first editing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905750" y="3248025"/>
            <a:ext cx="3524250" cy="1333500"/>
          </a:xfrm>
          <a:prstGeom prst="roundRect">
            <a:avLst>
              <a:gd name="adj" fmla="val 10000"/>
            </a:avLst>
          </a:prstGeom>
          <a:solidFill>
            <a:schemeClr val="accent2">
              <a:alpha val="16000"/>
            </a:schemeClr>
          </a:solidFill>
          <a:ln w="14288">
            <a:solidFill>
              <a:schemeClr val="accent2"/>
            </a:solidFill>
            <a:round/>
          </a:ln>
        </p:spPr>
        <p:txBody>
          <a:bodyPr wrap="square" lIns="91440" tIns="45720" rIns="91440" bIns="45720" anchor="ctr" rtlCol="0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+mj-lt"/>
              </a:rPr>
              <a:t>3.4 M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  <a:p>
            <a:pPr marL="0" indent="0" algn="ctr">
              <a:buNone/>
            </a:pPr>
            <a:r>
              <a:rPr lang="en-US" sz="1500" b="0" dirty="0">
                <a:solidFill>
                  <a:schemeClr val="tx1"/>
                </a:solidFill>
                <a:latin typeface="+mn-lt"/>
              </a:rPr>
              <a:t>decks exported to PDF per month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05750" y="4819650"/>
            <a:ext cx="3524250" cy="1333500"/>
          </a:xfrm>
          <a:prstGeom prst="roundRect">
            <a:avLst>
              <a:gd name="adj" fmla="val 10000"/>
            </a:avLst>
          </a:prstGeom>
          <a:solidFill>
            <a:schemeClr val="accent3">
              <a:alpha val="16000"/>
            </a:schemeClr>
          </a:solidFill>
          <a:ln w="14288">
            <a:solidFill>
              <a:schemeClr val="accent3"/>
            </a:solidFill>
            <a:round/>
          </a:ln>
        </p:spPr>
        <p:txBody>
          <a:bodyPr wrap="square" lIns="91440" tIns="45720" rIns="91440" bIns="45720" anchor="ctr" rtlCol="0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  <a:latin typeface="+mj-lt"/>
              </a:rPr>
              <a:t>+93 %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  <a:p>
            <a:pPr marL="0" indent="0" algn="ctr">
              <a:buNone/>
            </a:pPr>
            <a:r>
              <a:rPr lang="en-US" sz="1500" b="0" dirty="0">
                <a:solidFill>
                  <a:schemeClr val="tx1"/>
                </a:solidFill>
                <a:latin typeface="+mn-lt"/>
              </a:rPr>
              <a:t>growth in presenters year on year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Lumen Aurora · Confidential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737F6B0E-F49F-4D8B-AA85-74B35E351DA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ver dir="u"/>
      </p:transition>
    </mc:Choice>
    <mc:Fallback>
      <p:transition spd="med">
        <p:cover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Launch roadmap</a:t>
            </a:r>
            <a:endParaRPr lang="en-US" dirty="0"/>
          </a:p>
        </p:txBody>
      </p:sp>
      <p:grpSp>
        <p:nvGrpSpPr>
          <p:cNvPr id="3" name="Phases"/>
          <p:cNvGrpSpPr/>
          <p:nvPr/>
        </p:nvGrpSpPr>
        <p:grpSpPr>
          <a:xfrm>
            <a:off x="857250" y="2381250"/>
            <a:ext cx="10668000" cy="1238250"/>
            <a:chOff x="857250" y="2381250"/>
            <a:chExt cx="10668000" cy="1238250"/>
          </a:xfrm>
        </p:grpSpPr>
        <p:sp>
          <p:nvSpPr>
            <p:cNvPr id="4" name="Pentagon arrow 3"/>
            <p:cNvSpPr/>
            <p:nvPr/>
          </p:nvSpPr>
          <p:spPr>
            <a:xfrm>
              <a:off x="857250" y="2381250"/>
              <a:ext cx="3619500" cy="123825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chemeClr val="dk1"/>
                  </a:solidFill>
                  <a:latin typeface="+mj-lt"/>
                </a:rPr>
                <a:t>Beta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  <a:p>
              <a:pPr marL="0" indent="0" algn="ctr">
                <a:buNone/>
              </a:pPr>
              <a:r>
                <a:rPr lang="en-US" sz="1600" b="0" dirty="0">
                  <a:solidFill>
                    <a:schemeClr val="dk1"/>
                  </a:solidFill>
                  <a:latin typeface="+mn-lt"/>
                </a:rPr>
                <a:t>Oct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5" name="Chevron 4"/>
            <p:cNvSpPr/>
            <p:nvPr/>
          </p:nvSpPr>
          <p:spPr>
            <a:xfrm>
              <a:off x="4381500" y="2381250"/>
              <a:ext cx="3619500" cy="123825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 rtlCol="0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chemeClr val="dk1"/>
                  </a:solidFill>
                  <a:latin typeface="+mj-lt"/>
                </a:rPr>
                <a:t>Launch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  <a:p>
              <a:pPr marL="0" indent="0" algn="ctr">
                <a:buNone/>
              </a:pPr>
              <a:r>
                <a:rPr lang="en-US" sz="1600" b="0" dirty="0">
                  <a:solidFill>
                    <a:schemeClr val="dk1"/>
                  </a:solidFill>
                  <a:latin typeface="+mn-lt"/>
                </a:rPr>
                <a:t>Nov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" name="Chevron 5"/>
            <p:cNvSpPr/>
            <p:nvPr/>
          </p:nvSpPr>
          <p:spPr>
            <a:xfrm>
              <a:off x="7905750" y="2381250"/>
              <a:ext cx="3619500" cy="1238250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 rtlCol="0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chemeClr val="dk1"/>
                  </a:solidFill>
                  <a:latin typeface="+mj-lt"/>
                </a:rPr>
                <a:t>Scale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  <a:p>
              <a:pPr marL="0" indent="0" algn="ctr">
                <a:buNone/>
              </a:pPr>
              <a:r>
                <a:rPr lang="en-US" sz="1600" b="0" dirty="0">
                  <a:solidFill>
                    <a:schemeClr val="dk1"/>
                  </a:solidFill>
                  <a:latin typeface="+mn-lt"/>
                </a:rPr>
                <a:t>Q1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1047750" y="4000500"/>
            <a:ext cx="3143250" cy="1428750"/>
          </a:xfrm>
          <a:prstGeom prst="rect">
            <a:avLst/>
          </a:prstGeom>
          <a:solidFill>
            <a:schemeClr val="bg2">
              <a:alpha val="50000"/>
            </a:schemeClr>
          </a:solidFill>
          <a:ln w="14288">
            <a:solidFill>
              <a:schemeClr val="accent1"/>
            </a:solidFill>
            <a:prstDash val="dash"/>
            <a:round/>
          </a:ln>
        </p:spPr>
        <p:txBody>
          <a:bodyPr wrap="square" lIns="91440" tIns="45720" rIns="91440" bIns="45720" anchor="t" rtlCol="0"/>
          <a:lstStyle/>
          <a:p>
            <a:pPr marL="0" indent="0" algn="l">
              <a:buNone/>
            </a:pPr>
            <a:r>
              <a:rPr lang="en-US" sz="1700" b="0" dirty="0">
                <a:solidFill>
                  <a:schemeClr val="tx1"/>
                </a:solidFill>
                <a:latin typeface="+mn-lt"/>
              </a:rPr>
              <a:t>• 200 teams onboarded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0" indent="0" algn="l">
              <a:buNone/>
            </a:pPr>
            <a:r>
              <a:rPr lang="en-US" sz="1700" b="0" dirty="0">
                <a:solidFill>
                  <a:schemeClr val="tx1"/>
                </a:solidFill>
                <a:latin typeface="+mn-lt"/>
              </a:rPr>
              <a:t>• Feedback loop every week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0" y="4000500"/>
            <a:ext cx="3143250" cy="1428750"/>
          </a:xfrm>
          <a:prstGeom prst="rect">
            <a:avLst/>
          </a:prstGeom>
          <a:solidFill>
            <a:schemeClr val="bg2">
              <a:alpha val="50000"/>
            </a:schemeClr>
          </a:solidFill>
          <a:ln w="14288">
            <a:solidFill>
              <a:schemeClr val="accent2"/>
            </a:solidFill>
            <a:prstDash val="dash"/>
            <a:round/>
          </a:ln>
        </p:spPr>
        <p:txBody>
          <a:bodyPr wrap="square" lIns="91440" tIns="45720" rIns="91440" bIns="45720" anchor="t" rtlCol="0"/>
          <a:lstStyle/>
          <a:p>
            <a:pPr marL="0" indent="0" algn="l">
              <a:buNone/>
            </a:pPr>
            <a:r>
              <a:rPr lang="en-US" sz="1700" b="0" dirty="0">
                <a:solidFill>
                  <a:schemeClr val="tx1"/>
                </a:solidFill>
                <a:latin typeface="+mn-lt"/>
              </a:rPr>
              <a:t>• Public release, press kit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0" indent="0" algn="l">
              <a:buNone/>
            </a:pPr>
            <a:r>
              <a:rPr lang="en-US" sz="1700" b="0" dirty="0">
                <a:solidFill>
                  <a:schemeClr val="tx1"/>
                </a:solidFill>
                <a:latin typeface="+mn-lt"/>
              </a:rPr>
              <a:t>• Template gallery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96250" y="4000500"/>
            <a:ext cx="3143250" cy="1428750"/>
          </a:xfrm>
          <a:prstGeom prst="rect">
            <a:avLst/>
          </a:prstGeom>
          <a:solidFill>
            <a:schemeClr val="bg2">
              <a:alpha val="50000"/>
            </a:schemeClr>
          </a:solidFill>
          <a:ln w="14288">
            <a:solidFill>
              <a:schemeClr val="accent3"/>
            </a:solidFill>
            <a:prstDash val="dash"/>
            <a:round/>
          </a:ln>
        </p:spPr>
        <p:txBody>
          <a:bodyPr wrap="square" lIns="91440" tIns="45720" rIns="91440" bIns="45720" anchor="t" rtlCol="0"/>
          <a:lstStyle/>
          <a:p>
            <a:pPr marL="0" indent="0" algn="l">
              <a:buNone/>
            </a:pPr>
            <a:r>
              <a:rPr lang="en-US" sz="1700" b="0" dirty="0">
                <a:solidFill>
                  <a:schemeClr val="tx1"/>
                </a:solidFill>
                <a:latin typeface="+mn-lt"/>
              </a:rPr>
              <a:t>• Partners &amp; education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0" indent="0" algn="l">
              <a:buNone/>
            </a:pPr>
            <a:r>
              <a:rPr lang="en-US" sz="1700" b="0" dirty="0">
                <a:solidFill>
                  <a:schemeClr val="tx1"/>
                </a:solidFill>
                <a:latin typeface="+mn-lt"/>
              </a:rPr>
              <a:t>• Enterprise deployment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Line 9"/>
          <p:cNvSpPr/>
          <p:nvPr/>
        </p:nvSpPr>
        <p:spPr>
          <a:xfrm>
            <a:off x="1047750" y="5905500"/>
            <a:ext cx="10096500" cy="0"/>
          </a:xfrm>
          <a:prstGeom prst="line">
            <a:avLst/>
          </a:prstGeom>
          <a:noFill/>
          <a:ln w="23813">
            <a:solidFill>
              <a:schemeClr val="tx1">
                <a:lumMod val="75000"/>
              </a:schemeClr>
            </a:solidFill>
            <a:prstDash val="dash"/>
            <a:round/>
            <a:tailEnd type="triangle"/>
          </a:ln>
        </p:spPr>
      </p:sp>
      <p:sp>
        <p:nvSpPr>
          <p:cNvPr id="11" name="TextBox 10"/>
          <p:cNvSpPr txBox="1"/>
          <p:nvPr/>
        </p:nvSpPr>
        <p:spPr>
          <a:xfrm>
            <a:off x="1047750" y="6000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spAutoFit/>
          </a:bodyPr>
          <a:lstStyle/>
          <a:p>
            <a:pPr marL="0" indent="0" algn="l">
              <a:buNone/>
            </a:pPr>
            <a:r>
              <a:rPr lang="en-US" sz="1400" b="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Today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Lumen Aurora · Confidential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541BC96C-C52E-4C59-AAFF-3C65AEB478B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zoom/>
      </p:transition>
    </mc:Choice>
    <mc:Fallback>
      <p:transition spd="med">
        <p:zo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Pricing &amp; packaging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47750" y="1809750"/>
          <a:ext cx="10096500" cy="3048000"/>
        </p:xfrm>
        <a:graphic>
          <a:graphicData uri="http://schemas.openxmlformats.org/drawingml/2006/table">
            <a:tbl>
              <a:tblPr firstRow="1" bandRow="1"/>
              <a:tblGrid>
                <a:gridCol w="2524125"/>
                <a:gridCol w="2524125"/>
                <a:gridCol w="2524125"/>
                <a:gridCol w="2524125"/>
              </a:tblGrid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Free</a:t>
                      </a:r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Team</a:t>
                      </a:r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Enterprise</a:t>
                      </a:r>
                      <a:endParaRPr lang="en-US"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+mn-lt"/>
                        </a:rPr>
                        <a:t>Editors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Unlimited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Per seat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Per seat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+mn-lt"/>
                        </a:rPr>
                        <a:t>PowerPoint import/export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✓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✓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✓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+mn-lt"/>
                        </a:rPr>
                        <a:t>Shared templates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✓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✓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+mn-lt"/>
                        </a:rPr>
                        <a:t>Price / editor / month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€0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€6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dk1"/>
                          </a:solidFill>
                          <a:latin typeface="+mn-lt"/>
                        </a:rPr>
                        <a:t>Talk to us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096000" y="1524000"/>
            <a:ext cx="2571750" cy="24765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square" lIns="91440" tIns="45720" rIns="91440" bIns="45720" anchor="ctr" rtlCol="0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dk1"/>
                </a:solidFill>
                <a:latin typeface="+mn-lt"/>
              </a:rPr>
              <a:t>MOST POPULAR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Lumen Aurora ·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5D781C13-8BD3-4146-A906-24734FA920C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Designed for the stage</a:t>
            </a:r>
            <a:endParaRPr lang="en-US" dirty="0"/>
          </a:p>
        </p:txBody>
      </p:sp>
      <p:pic>
        <p:nvPicPr>
          <p:cNvPr id="3" name="Picture Placeholder 2" descr=""/>
          <p:cNvPicPr>
            <a:picLocks noChangeAspect="1"/>
          </p:cNvPicPr>
          <p:nvPr>
            <p:ph type="pic" idx="1"/>
          </p:nvPr>
        </p:nvPicPr>
        <p:blipFill>
          <a:blip r:embed="rId2"/>
          <a:srcRect l="10000" r="10000"/>
          <a:stretch>
            <a:fillRect/>
          </a:stretch>
        </p:blipFill>
        <p:spPr>
          <a:xfrm>
            <a:off x="5334000" y="571500"/>
            <a:ext cx="6096000" cy="57150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/>
        <p:txBody>
          <a:bodyPr rtlCol="0"/>
          <a:lstStyle/>
          <a:p>
            <a:r>
              <a:rPr lang="en-US" dirty="0"/>
              <a:t>Presenter view with notes, timer and the next build. A second window for the projector — or one screen, split.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Works offline. Opens and saves PowerPoint files.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Lumen Aurora ·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00B66B8E-8933-4B12-A89C-3DC529E8784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split orient="vert" dir="out"/>
      </p:transition>
    </mc:Choice>
    <mc:Fallback>
      <p:transition spd="med">
        <p:split orient="vert" dir="ou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Thank you</a:t>
            </a:r>
            <a:endParaRPr lang="en-US" dirty="0"/>
          </a:p>
          <a:p>
            <a:r>
              <a:rPr lang="en-US" sz="2400" b="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Questions? aurora@lumen.example</a:t>
            </a:r>
            <a:endParaRPr lang="en-US" dirty="0"/>
          </a:p>
        </p:txBody>
      </p:sp>
      <p:sp>
        <p:nvSpPr>
          <p:cNvPr id="3" name="5-point star 2"/>
          <p:cNvSpPr/>
          <p:nvPr/>
        </p:nvSpPr>
        <p:spPr>
          <a:xfrm>
            <a:off x="5715000" y="876300"/>
            <a:ext cx="762000" cy="762000"/>
          </a:xfrm>
          <a:prstGeom prst="star5">
            <a:avLst/>
          </a:prstGeom>
          <a:gradFill rotWithShape="1">
            <a:gsLst>
              <a:gs pos="0">
                <a:schemeClr val="accent4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00500" y="6362700"/>
            <a:ext cx="4191000" cy="304800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Lumen Aurora ·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63000" y="6362700"/>
            <a:ext cx="2667000" cy="304800"/>
          </a:xfrm>
          <a:prstGeom prst="rect">
            <a:avLst/>
          </a:prstGeom>
        </p:spPr>
        <p:txBody>
          <a:bodyPr rtlCol="0"/>
          <a:lstStyle/>
          <a:p>
            <a:fld id="{79815326-773F-4686-A0E6-0ED54934564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urora">
  <a:themeElements>
    <a:clrScheme name="Aurora">
      <a:dk1>
        <a:srgbClr val="0B1530"/>
      </a:dk1>
      <a:lt1>
        <a:srgbClr val="F4F7FF"/>
      </a:lt1>
      <a:dk2>
        <a:srgbClr val="16224A"/>
      </a:dk2>
      <a:lt2>
        <a:srgbClr val="C9D6FF"/>
      </a:lt2>
      <a:accent1>
        <a:srgbClr val="38BDF8"/>
      </a:accent1>
      <a:accent2>
        <a:srgbClr val="A78BFA"/>
      </a:accent2>
      <a:accent3>
        <a:srgbClr val="34D399"/>
      </a:accent3>
      <a:accent4>
        <a:srgbClr val="F472B6"/>
      </a:accent4>
      <a:accent5>
        <a:srgbClr val="FBBF24"/>
      </a:accent5>
      <a:accent6>
        <a:srgbClr val="94A3B8"/>
      </a:accent6>
      <a:hlink>
        <a:srgbClr val="2563EB"/>
      </a:hlink>
      <a:folHlink>
        <a:srgbClr val="7C3AED"/>
      </a:folHlink>
    </a:clrScheme>
    <a:fontScheme name="Aurora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Notes">
      <a:dk1>
        <a:srgbClr val="0B1530"/>
      </a:dk1>
      <a:lt1>
        <a:srgbClr val="F4F7FF"/>
      </a:lt1>
      <a:dk2>
        <a:srgbClr val="16224A"/>
      </a:dk2>
      <a:lt2>
        <a:srgbClr val="C9D6FF"/>
      </a:lt2>
      <a:accent1>
        <a:srgbClr val="38BDF8"/>
      </a:accent1>
      <a:accent2>
        <a:srgbClr val="A78BFA"/>
      </a:accent2>
      <a:accent3>
        <a:srgbClr val="34D399"/>
      </a:accent3>
      <a:accent4>
        <a:srgbClr val="F472B6"/>
      </a:accent4>
      <a:accent5>
        <a:srgbClr val="FBBF24"/>
      </a:accent5>
      <a:accent6>
        <a:srgbClr val="94A3B8"/>
      </a:accent6>
      <a:hlink>
        <a:srgbClr val="2563EB"/>
      </a:hlink>
      <a:folHlink>
        <a:srgbClr val="7C3AED"/>
      </a:folHlink>
    </a:clrScheme>
    <a:fontScheme name="Note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Lumen Slides</Application>
  <PresentationFormat>Widescreen</PresentationFormat>
  <Paragraphs>0</Paragraphs>
  <Slides>8</Slides>
  <Notes>8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</dc:title>
  <dc:creator>Lumen Slides</dc:creator>
  <cp:lastModifiedBy>Lumen Slides</cp:lastModifiedBy>
  <cp:revision>1</cp:revision>
  <dcterms:created xsi:type="dcterms:W3CDTF">2026-10-18T19:00:13Z</dcterms:created>
  <dcterms:modified xsi:type="dcterms:W3CDTF">2026-10-18T19:00:13Z</dcterms:modified>
</cp:coreProperties>
</file>