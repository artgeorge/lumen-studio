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00" b="1">
                <a:solidFill>
                  <a:schemeClr val="tx1"/>
                </a:solidFill>
              </a:defRPr>
            </a:pPr>
            <a:r>
              <a:rPr lang="en-US" sz="1800" b="1">
                <a:solidFill>
                  <a:schemeClr val="tx1"/>
                </a:solidFill>
              </a:rPr>
              <a:t>Chart title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0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1">
                <a:lumMod val="50000"/>
                <a:lumOff val="50000"/>
              </a:schemeClr>
            </a:solidFill>
          </a:ln>
        </c:spPr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5001000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200">
              <a:solidFill>
                <a:schemeClr val="tx1">
                  <a:lumMod val="75000"/>
                  <a:lumOff val="25000"/>
                </a:schemeClr>
              </a:solidFill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200">
          <a:latin typeface="+mn-lt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200">
              <a:solidFill>
                <a:schemeClr val="tx1">
                  <a:lumMod val="75000"/>
                  <a:lumOff val="25000"/>
                </a:schemeClr>
              </a:solidFill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200">
          <a:latin typeface="+mn-lt"/>
        </a:defRPr>
      </a:pPr>
      <a:endParaRPr lang="en-US"/>
    </a:p>
  </c:txPr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</a:t>
            </a:r>
          </a:p>
          <a:p>
            <a:r>
              <a:rPr lang="en-US" dirty="0"/>
              <a:t>Second line of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500" y="1619250"/>
            <a:ext cx="9525000" cy="2190750"/>
          </a:xfrm>
        </p:spPr>
        <p:txBody>
          <a:bodyPr anchor="b"/>
          <a:lstStyle>
            <a:lvl1pPr marL="0" indent="0" algn="ctr">
              <a:buNone/>
              <a:defRPr sz="56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3500" y="3981450"/>
            <a:ext cx="9525000" cy="1238250"/>
          </a:xfrm>
        </p:spPr>
        <p:txBody>
          <a:bodyPr>
            <a:normAutofit/>
          </a:bodyPr>
          <a:lstStyle>
            <a:lvl1pPr marL="0" indent="0" algn="ctr"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A098-5F5F-4D85-A2E9-19AA52AB15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10668000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5E26-06D7-45BD-AC92-8ECACC3862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190750"/>
            <a:ext cx="10668000" cy="1809750"/>
          </a:xfrm>
        </p:spPr>
        <p:txBody>
          <a:bodyPr anchor="b"/>
          <a:lstStyle>
            <a:lvl1pPr marL="0" indent="0">
              <a:buNone/>
              <a:defRPr sz="50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4152900"/>
            <a:ext cx="10668000" cy="952500"/>
          </a:xfrm>
        </p:spPr>
        <p:txBody>
          <a:bodyPr>
            <a:normAutofit/>
          </a:bodyPr>
          <a:lstStyle>
            <a:lvl1pPr marL="0" indent="0"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A783A-E955-447F-ABC6-01579FF581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5191125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238875" y="1676400"/>
            <a:ext cx="5191125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3025-F0D6-422A-A00F-C2B7C3C1DE8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5191125" cy="533400"/>
          </a:xfrm>
        </p:spPr>
        <p:txBody>
          <a:bodyPr anchor="b">
            <a:normAutofit/>
          </a:bodyPr>
          <a:lstStyle>
            <a:lvl1pPr marL="0" indent="0">
              <a:buNone/>
              <a:defRPr sz="2400" b="1" kern="1200"/>
            </a:lvl1pPr>
            <a:lvl2pPr marL="457200" indent="0">
              <a:buNone/>
              <a:defRPr sz="2200" b="1" kern="1200"/>
            </a:lvl2pPr>
            <a:lvl3pPr marL="914400" indent="0">
              <a:buNone/>
              <a:defRPr sz="2000" b="1" kern="1200"/>
            </a:lvl3pPr>
            <a:lvl4pPr marL="1371600" indent="0">
              <a:buNone/>
              <a:defRPr sz="1800" b="1" kern="1200"/>
            </a:lvl4pPr>
            <a:lvl5pPr marL="1828800" indent="0">
              <a:buNone/>
              <a:defRPr sz="1600" b="1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762000" y="2209800"/>
            <a:ext cx="5191125" cy="400050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type="body" idx="3"/>
          </p:nvPr>
        </p:nvSpPr>
        <p:spPr>
          <a:xfrm>
            <a:off x="6238875" y="1600200"/>
            <a:ext cx="5191125" cy="533400"/>
          </a:xfrm>
        </p:spPr>
        <p:txBody>
          <a:bodyPr anchor="b">
            <a:normAutofit/>
          </a:bodyPr>
          <a:lstStyle>
            <a:lvl1pPr marL="0" indent="0">
              <a:buNone/>
              <a:defRPr sz="2400" b="1" kern="1200"/>
            </a:lvl1pPr>
            <a:lvl2pPr marL="457200" indent="0">
              <a:buNone/>
              <a:defRPr sz="2200" b="1" kern="1200"/>
            </a:lvl2pPr>
            <a:lvl3pPr marL="914400" indent="0">
              <a:buNone/>
              <a:defRPr sz="2000" b="1" kern="1200"/>
            </a:lvl3pPr>
            <a:lvl4pPr marL="1371600" indent="0">
              <a:buNone/>
              <a:defRPr sz="1800" b="1" kern="1200"/>
            </a:lvl4pPr>
            <a:lvl5pPr marL="1828800" indent="0">
              <a:buNone/>
              <a:defRPr sz="1600" b="1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type="body" idx="4"/>
          </p:nvPr>
        </p:nvSpPr>
        <p:spPr>
          <a:xfrm>
            <a:off x="6238875" y="2209800"/>
            <a:ext cx="5191125" cy="400050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0B00A-D669-423B-ABDE-0F4F1F222B0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B34C8-CA9A-45F5-A7EC-8B0E7D552F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A28B-FDBD-4314-AAD2-51F7DD9B34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57250"/>
            <a:ext cx="4095750" cy="1428750"/>
          </a:xfrm>
        </p:spPr>
        <p:txBody>
          <a:bodyPr anchor="b"/>
          <a:lstStyle>
            <a:lvl1pPr marL="0" indent="0">
              <a:buNone/>
              <a:defRPr sz="32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34000" y="571500"/>
            <a:ext cx="6096000" cy="5715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762000" y="2438400"/>
            <a:ext cx="4095750" cy="3619500"/>
          </a:xfrm>
        </p:spPr>
        <p:txBody>
          <a:bodyPr>
            <a:normAutofit/>
          </a:bodyPr>
          <a:lstStyle>
            <a:lvl1pPr marL="0" indent="0">
              <a:buNone/>
              <a:defRPr sz="1800" kern="1200"/>
            </a:lvl1pPr>
            <a:lvl2pPr marL="457200" indent="0">
              <a:buNone/>
              <a:defRPr sz="1600" kern="1200"/>
            </a:lvl2pPr>
            <a:lvl3pPr marL="914400" indent="0">
              <a:buNone/>
              <a:defRPr sz="1400" kern="1200"/>
            </a:lvl3pPr>
            <a:lvl4pPr marL="1371600" indent="0">
              <a:buNone/>
              <a:defRPr sz="1200" kern="1200"/>
            </a:lvl4pPr>
            <a:lvl5pPr marL="1828800" indent="0">
              <a:buNone/>
              <a:defRPr sz="1000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28FB-604A-4221-A330-EE0CB5FE22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0"/>
            <a:ext cx="9906000" cy="3810000"/>
          </a:xfrm>
        </p:spPr>
        <p:txBody>
          <a:bodyPr anchor="ctr"/>
          <a:lstStyle>
            <a:lvl1pPr marL="0" indent="0" algn="ctr">
              <a:buNone/>
              <a:defRPr sz="60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900E6-547A-4EFB-A44E-3667BB3A7CE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10668000" cy="4476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762000" y="6362700"/>
            <a:ext cx="2667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r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1DCC3EF-15BF-418B-AB50-9D516661DCB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indent="0" algn="l">
        <a:lnSpc>
          <a:spcPct val="90000"/>
        </a:lnSpc>
        <a:buNone/>
        <a:defRPr sz="4000" b="1" kern="1200">
          <a:solidFill>
            <a:schemeClr val="tx1"/>
          </a:solidFill>
          <a:latin typeface="+mj-lt"/>
        </a:defRPr>
      </a:lvl1pPr>
    </p:titleStyle>
    <p:bodyStyle>
      <a:lvl1pPr marL="342900" indent="-342900" algn="l"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</a:defRPr>
      </a:lvl1pPr>
      <a:lvl2pPr marL="800100" indent="-342900" algn="l">
        <a:spcBef>
          <a:spcPts val="1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</a:defRPr>
      </a:lvl2pPr>
      <a:lvl3pPr marL="1257300" indent="-342900" algn="l"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3pPr>
      <a:lvl4pPr marL="1714500" indent="-342900" algn="l">
        <a:spcBef>
          <a:spcPts val="1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</a:defRPr>
      </a:lvl4pPr>
      <a:lvl5pPr marL="2171700" indent="-342900" algn="l"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5pPr>
      <a:lvl6pPr algn="l">
        <a:spcBef>
          <a:spcPts val="1000"/>
        </a:spcBef>
        <a:defRPr kern="1200">
          <a:solidFill>
            <a:schemeClr val="tx1"/>
          </a:solidFill>
          <a:latin typeface="+mn-lt"/>
        </a:defRPr>
      </a:lvl6pPr>
      <a:lvl7pPr algn="l">
        <a:spcBef>
          <a:spcPts val="1000"/>
        </a:spcBef>
        <a:defRPr kern="1200">
          <a:solidFill>
            <a:schemeClr val="tx1"/>
          </a:solidFill>
          <a:latin typeface="+mn-lt"/>
        </a:defRPr>
      </a:lvl7pPr>
      <a:lvl8pPr algn="l">
        <a:spcBef>
          <a:spcPts val="1000"/>
        </a:spcBef>
        <a:defRPr kern="1200">
          <a:solidFill>
            <a:schemeClr val="tx1"/>
          </a:solidFill>
          <a:latin typeface="+mn-lt"/>
        </a:defRPr>
      </a:lvl8pPr>
      <a:lvl9pPr algn="l">
        <a:spcBef>
          <a:spcPts val="1000"/>
        </a:spcBef>
        <a:defRPr kern="1200">
          <a:solidFill>
            <a:schemeClr val="tx1"/>
          </a:solidFill>
          <a:latin typeface="+mn-lt"/>
        </a:defRPr>
      </a:lvl9pPr>
    </p:bodyStyle>
    <p:otherStyle>
      <a:lvl1pPr marL="0" indent="0">
        <a:buNone/>
        <a:defRPr sz="1800" kern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Quarterly Review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Lumen Slides &amp; &lt;OOXML&gt; "test"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US" dirty="0"/>
              <a:t>First point</a:t>
            </a:r>
            <a:endParaRPr lang="en-US" dirty="0"/>
          </a:p>
          <a:p>
            <a:pPr lvl="1"/>
            <a:r>
              <a:rPr lang="en-US" b="1" dirty="0"/>
              <a:t>Bold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red italic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Numbered</a:t>
            </a:r>
            <a:endParaRPr lang="en-US" dirty="0"/>
          </a:p>
          <a:p>
            <a:r>
              <a:rPr lang="en-US" sz="3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Accent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44D0CFF6-15FA-4F28-A647-F92E02DFA69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:push dir="l"/>
      </p:transition>
    </mc:Choice>
    <mc:Fallback>
      <p:transition spd="fast">
        <p:push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Shapes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952500" y="1905000"/>
            <a:ext cx="2857500" cy="1524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33350" dist="47625" dir="5400000" algn="t" rotWithShape="0">
              <a:prstClr val="black">
                <a:alpha val="32000"/>
              </a:prstClr>
            </a:outerShdw>
          </a:effectLst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Inside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Oval 3"/>
          <p:cNvSpPr/>
          <p:nvPr/>
        </p:nvSpPr>
        <p:spPr>
          <a:xfrm>
            <a:off x="4286250" y="1905000"/>
            <a:ext cx="1905000" cy="19050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rgbClr val="FFCC00"/>
              </a:gs>
            </a:gsLst>
            <a:lin ang="2700000" scaled="0"/>
          </a:gradFill>
          <a:ln w="28575">
            <a:solidFill>
              <a:schemeClr val="tx1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5-point star 4"/>
          <p:cNvSpPr/>
          <p:nvPr/>
        </p:nvSpPr>
        <p:spPr>
          <a:xfrm rot="900000">
            <a:off x="6667500" y="1905000"/>
            <a:ext cx="1524000" cy="152400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ine 5"/>
          <p:cNvSpPr/>
          <p:nvPr/>
        </p:nvSpPr>
        <p:spPr>
          <a:xfrm>
            <a:off x="952500" y="4000500"/>
            <a:ext cx="3810000" cy="952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/>
          </a:ln>
        </p:spPr>
      </p:sp>
      <p:sp>
        <p:nvSpPr>
          <p:cNvPr id="7" name="TextBox 6"/>
          <p:cNvSpPr txBox="1"/>
          <p:nvPr/>
        </p:nvSpPr>
        <p:spPr>
          <a:xfrm>
            <a:off x="8572500" y="19050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chemeClr val="tx1"/>
                </a:solidFill>
                <a:latin typeface="+mn-lt"/>
              </a:rPr>
              <a:t>A text box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8572500" y="2857500"/>
            <a:ext cx="1905000" cy="19050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715000" y="4286250"/>
            <a:ext cx="2095500" cy="952500"/>
            <a:chOff x="5715000" y="4286250"/>
            <a:chExt cx="2095500" cy="952500"/>
          </a:xfrm>
        </p:grpSpPr>
        <p:sp>
          <p:nvSpPr>
            <p:cNvPr id="10" name="Rectangle 9"/>
            <p:cNvSpPr/>
            <p:nvPr/>
          </p:nvSpPr>
          <p:spPr>
            <a:xfrm>
              <a:off x="5715000" y="4286250"/>
              <a:ext cx="95250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riangle 10"/>
            <p:cNvSpPr/>
            <p:nvPr/>
          </p:nvSpPr>
          <p:spPr>
            <a:xfrm>
              <a:off x="6858000" y="4286250"/>
              <a:ext cx="952500" cy="9525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Confidential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46123E1D-4D38-46A9-A2DF-968141A3CCA9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8" presetClass="emph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rgbClr val="FFFFFF"/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Numbers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714500"/>
          <a:ext cx="5334000" cy="1676400"/>
        </p:xfrm>
        <a:graphic>
          <a:graphicData uri="http://schemas.openxmlformats.org/drawingml/2006/table">
            <a:tbl>
              <a:tblPr firstRow="1" bandRow="1"/>
              <a:tblGrid>
                <a:gridCol w="1778000"/>
                <a:gridCol w="1778000"/>
                <a:gridCol w="1778000"/>
              </a:tblGrid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Region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Q1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Q2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North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South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West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6477000" y="1619250"/>
          <a:ext cx="4953000" cy="3619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6477000" y="5334000"/>
          <a:ext cx="1905000" cy="1428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05F5CE2A-96AD-4257-A4E9-CFF3EB4829A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en">
  <a:themeElements>
    <a:clrScheme name="Lumen">
      <a:dk1>
        <a:srgbClr val="16243A"/>
      </a:dk1>
      <a:lt1>
        <a:srgbClr val="FFFFFF"/>
      </a:lt1>
      <a:dk2>
        <a:srgbClr val="1F4E8C"/>
      </a:dk2>
      <a:lt2>
        <a:srgbClr val="E9F0F8"/>
      </a:lt2>
      <a:accent1>
        <a:srgbClr val="2F7DE1"/>
      </a:accent1>
      <a:accent2>
        <a:srgbClr val="14B8A6"/>
      </a:accent2>
      <a:accent3>
        <a:srgbClr val="F59E0B"/>
      </a:accent3>
      <a:accent4>
        <a:srgbClr val="EF4444"/>
      </a:accent4>
      <a:accent5>
        <a:srgbClr val="8B5CF6"/>
      </a:accent5>
      <a:accent6>
        <a:srgbClr val="64748B"/>
      </a:accent6>
      <a:hlink>
        <a:srgbClr val="2563EB"/>
      </a:hlink>
      <a:folHlink>
        <a:srgbClr val="7C3AED"/>
      </a:folHlink>
    </a:clrScheme>
    <a:fontScheme name="Lumen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Notes">
      <a:dk1>
        <a:srgbClr val="16243A"/>
      </a:dk1>
      <a:lt1>
        <a:srgbClr val="FFFFFF"/>
      </a:lt1>
      <a:dk2>
        <a:srgbClr val="1F4E8C"/>
      </a:dk2>
      <a:lt2>
        <a:srgbClr val="E9F0F8"/>
      </a:lt2>
      <a:accent1>
        <a:srgbClr val="2F7DE1"/>
      </a:accent1>
      <a:accent2>
        <a:srgbClr val="14B8A6"/>
      </a:accent2>
      <a:accent3>
        <a:srgbClr val="F59E0B"/>
      </a:accent3>
      <a:accent4>
        <a:srgbClr val="EF4444"/>
      </a:accent4>
      <a:accent5>
        <a:srgbClr val="8B5CF6"/>
      </a:accent5>
      <a:accent6>
        <a:srgbClr val="64748B"/>
      </a:accent6>
      <a:hlink>
        <a:srgbClr val="2563EB"/>
      </a:hlink>
      <a:folHlink>
        <a:srgbClr val="7C3AED"/>
      </a:folHlink>
    </a:clrScheme>
    <a:fontScheme name="Note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Lumen Slides</Application>
  <PresentationFormat>Widescreen</PresentationFormat>
  <Paragraphs>0</Paragraphs>
  <Slides>4</Slides>
  <Notes>1</Notes>
  <HiddenSlides>1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</dc:title>
  <dc:creator>Lumen Slides</dc:creator>
  <cp:lastModifiedBy>Lumen Slides</cp:lastModifiedBy>
  <cp:revision>1</cp:revision>
  <dcterms:created xsi:type="dcterms:W3CDTF">2026-10-18T19:07:18Z</dcterms:created>
  <dcterms:modified xsi:type="dcterms:W3CDTF">2026-10-18T19:07:18Z</dcterms:modified>
</cp:coreProperties>
</file>